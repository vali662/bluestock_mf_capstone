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FC40-89BE-EC1E-0BA7-7D8E7ED7E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CC586-E9F9-3C3D-65A0-370FF5D0D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75A01-1BDA-3C98-87CC-433830FF7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D983-9A4C-904A-058D-8B21CDEC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132C1-9DBD-BD3B-9F29-858CA2D9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76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613C-652F-68C1-A186-7CFF9851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162A2-5A9D-134B-3FCD-18A2A981A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5F5CE-F4EC-33C7-0743-C0047832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76CD1-913C-F513-0B0A-7ADCD759E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55DE1-CDEC-82B2-5DA9-4B5B7E3E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4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2142-1278-1C4B-5A10-9179976C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54AE6-A142-DB71-493E-0219F2966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5D28-ABF9-2C67-75FC-6890F7D0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44134-B667-E796-D098-3554A1BB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176EF-A5CD-C88C-0BC2-3FA3B010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3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C21B-569E-AD93-8B44-CEF6F85B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8D0B1-699D-8AC5-CA96-3FE6465F6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7BF22-5111-0AFA-0ED3-86EDAAE1E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1CB7-397D-72C4-6F45-0A65F7A3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44AC9-E78C-6930-936F-4D28D66A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3A802-013C-9100-599D-07005C7A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035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1D99-8CEC-F062-D0A8-4960A6E0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03B07-BF01-93D4-CAF3-423B025B5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7A252-652A-9CF7-1A03-B87206194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35C82-3D56-F4E1-313D-58CA74A4B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300DA-83F8-BCE7-DF7A-5F3441615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6E4E5-F018-7653-DBBC-0811AB18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2A1DC-D978-82B2-E95C-36869A2C1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58A74-445D-7B3A-D05F-C23C6AEDB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99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ABE8-5D07-B680-E489-B13B5D74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83E5B-51C0-12F2-2183-A9D398F2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1E0A8-8D3E-EEFD-2D61-32FF2925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1DB1C-A973-D171-8395-799AE30B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19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278D0-E8DC-746A-F5A4-2392E0E7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A1977-BF64-7BA5-7846-FF98003E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66043-D37F-3587-14E0-C4CD3CD6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26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11F6A-A910-5411-98CA-2C226046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2505-1061-46C4-4F12-34E229FDF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2AD0A-34D4-F449-DA8B-365043E7F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BFCB6-301B-6A8D-5D32-CFAA754D9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1BED8-B4AC-6C4F-5329-8B03C6F60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9A0A1-5DB8-2817-EA92-EBA46289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29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B8C-A24C-1B70-917A-4ADF0DFE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FD41D-DAAB-6F27-8296-BF2C99CA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D7D3-B1E3-AC83-C081-189366AD2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682E0-5EF6-05D7-E6AA-9D83B50E5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33200-3DFE-C173-3B58-A80B912D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B41BF-5540-1117-3B5C-38E26B2D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41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AE18-DA18-46CA-6730-FF3B956C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AC595-3D74-369E-9A4F-CB0B58FBD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41F13-B674-6D11-A823-96AD4AEF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A0608-E29F-D8C5-1287-E0A7B0AB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09731-3395-C135-E15A-0CFDA8DA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78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C59E1-4B04-54F5-F3E5-677B06647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FEBB7-8F6A-DED4-5893-E2E1BC9A1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9F2DD-F7FB-43CB-F14E-A50D66801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69C9E-EB2D-490B-81AA-FD6D6977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2B31B-2951-CFA8-C9BE-CE7BCBE78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546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A2A90D-CCC3-BB9F-BB73-308B7D20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309C0-4D6E-666B-E45B-4FB8744D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25F19-421D-1945-C680-01804414B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D2C93-A609-4C42-AA53-C774EE5CD7E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2297A-C8D2-768C-A82E-B4A788BF2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ECC39-FE14-E55D-4C4B-53EB846BD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EA46E-861F-4D49-8D47-C7BDBEDB5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54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B775-DA8A-FB88-EC7C-8BD654EB5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020" y="412954"/>
            <a:ext cx="9144000" cy="393137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Mutual Fund Analytics Capstone Project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B9B68-ECBC-8AA8-6F0F-5A09B32C1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9536" y="927664"/>
            <a:ext cx="9144000" cy="1655762"/>
          </a:xfrm>
        </p:spPr>
        <p:txBody>
          <a:bodyPr>
            <a:noAutofit/>
          </a:bodyPr>
          <a:lstStyle/>
          <a:p>
            <a:r>
              <a:rPr lang="en-IN" b="1" dirty="0"/>
              <a:t>Bluestock Internship Program</a:t>
            </a:r>
          </a:p>
          <a:p>
            <a:r>
              <a:rPr lang="en-US" dirty="0"/>
              <a:t>Prepared By:</a:t>
            </a:r>
          </a:p>
          <a:p>
            <a:r>
              <a:rPr lang="en-US" dirty="0"/>
              <a:t>Vali Shaik</a:t>
            </a:r>
          </a:p>
          <a:p>
            <a:endParaRPr lang="en-US" dirty="0"/>
          </a:p>
          <a:p>
            <a:r>
              <a:rPr lang="en-US" dirty="0"/>
              <a:t>Duration:</a:t>
            </a:r>
          </a:p>
          <a:p>
            <a:r>
              <a:rPr lang="en-US" dirty="0"/>
              <a:t>01 June 2026 – 10 June 2026</a:t>
            </a:r>
          </a:p>
          <a:p>
            <a:endParaRPr lang="en-US" dirty="0"/>
          </a:p>
          <a:p>
            <a:r>
              <a:rPr lang="en-US" dirty="0"/>
              <a:t>Tools Used:</a:t>
            </a:r>
          </a:p>
          <a:p>
            <a:r>
              <a:rPr lang="en-US" dirty="0"/>
              <a:t>Python • SQLite • Pandas • Power BI • 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82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971F-4824-C407-B3DD-A983CEE2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6401A-2B8F-6285-957A-88003D819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mutual fund industry generates large volumes of financial and investor data.</a:t>
            </a:r>
          </a:p>
          <a:p>
            <a:r>
              <a:rPr lang="en-US" sz="2400" dirty="0"/>
              <a:t>However, investors and analysts often struggle to:</a:t>
            </a:r>
          </a:p>
          <a:p>
            <a:pPr marL="0" indent="0">
              <a:buNone/>
            </a:pPr>
            <a:r>
              <a:rPr lang="en-US" sz="2400" dirty="0"/>
              <a:t>• Compare mutual fund performance</a:t>
            </a:r>
          </a:p>
          <a:p>
            <a:pPr marL="0" indent="0">
              <a:buNone/>
            </a:pPr>
            <a:r>
              <a:rPr lang="en-US" sz="2400" dirty="0"/>
              <a:t>• Evaluate risk-adjusted returns</a:t>
            </a:r>
          </a:p>
          <a:p>
            <a:pPr marL="0" indent="0">
              <a:buNone/>
            </a:pPr>
            <a:r>
              <a:rPr lang="en-US" sz="2400" dirty="0"/>
              <a:t>• Understand investor behavior</a:t>
            </a:r>
          </a:p>
          <a:p>
            <a:pPr marL="0" indent="0">
              <a:buNone/>
            </a:pPr>
            <a:r>
              <a:rPr lang="en-US" sz="2400" dirty="0"/>
              <a:t>• Monitor SIP growth trends</a:t>
            </a:r>
          </a:p>
          <a:p>
            <a:pPr marL="0" indent="0">
              <a:buNone/>
            </a:pPr>
            <a:r>
              <a:rPr lang="en-US" sz="2400" dirty="0"/>
              <a:t>• Identify suitable investment opportunities</a:t>
            </a:r>
          </a:p>
          <a:p>
            <a:r>
              <a:rPr lang="en-US" sz="2400" dirty="0"/>
              <a:t>A centralized analytics solution was required to transform raw data into actionable insights.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8203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6687-C1FC-C16D-4101-673DB9E15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DE5E3-2BC7-7D84-F55F-1CA8A2CA6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• Build an end-to-end analytics pipeline</a:t>
            </a:r>
          </a:p>
          <a:p>
            <a:pPr marL="0" indent="0">
              <a:buNone/>
            </a:pPr>
            <a:r>
              <a:rPr lang="en-IN" sz="2400" dirty="0"/>
              <a:t>• Clean and integrate multiple mutual fund datasets</a:t>
            </a:r>
          </a:p>
          <a:p>
            <a:pPr marL="0" indent="0">
              <a:buNone/>
            </a:pPr>
            <a:r>
              <a:rPr lang="en-IN" sz="2400" dirty="0"/>
              <a:t>• Perform exploratory data analysis</a:t>
            </a:r>
          </a:p>
          <a:p>
            <a:pPr marL="0" indent="0">
              <a:buNone/>
            </a:pPr>
            <a:r>
              <a:rPr lang="en-IN" sz="2400" dirty="0"/>
              <a:t>• Calculate financial performance metrics</a:t>
            </a:r>
          </a:p>
          <a:p>
            <a:pPr marL="0" indent="0">
              <a:buNone/>
            </a:pPr>
            <a:r>
              <a:rPr lang="en-IN" sz="2400" dirty="0"/>
              <a:t>• Develop interactive dashboards</a:t>
            </a:r>
          </a:p>
          <a:p>
            <a:pPr marL="0" indent="0">
              <a:buNone/>
            </a:pPr>
            <a:r>
              <a:rPr lang="en-IN" sz="2400" dirty="0"/>
              <a:t>• Conduct advanced risk analytics</a:t>
            </a:r>
          </a:p>
          <a:p>
            <a:pPr marL="0" indent="0">
              <a:buNone/>
            </a:pPr>
            <a:r>
              <a:rPr lang="en-IN" sz="2400" dirty="0"/>
              <a:t>• Generate investment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3432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1BE79-E6C0-16EC-2CC8-6A749D05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IN" b="1" u="sng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37F68-F113-7C75-B5AB-E8B1C4C89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IN" sz="1400"/>
              <a:t>10 datasets were utilized:</a:t>
            </a:r>
          </a:p>
          <a:p>
            <a:endParaRPr lang="en-IN" sz="1400"/>
          </a:p>
          <a:p>
            <a:pPr marL="0" indent="0">
              <a:buNone/>
            </a:pPr>
            <a:r>
              <a:rPr lang="en-IN" sz="1400"/>
              <a:t>• Fund Master</a:t>
            </a:r>
          </a:p>
          <a:p>
            <a:pPr marL="0" indent="0">
              <a:buNone/>
            </a:pPr>
            <a:r>
              <a:rPr lang="en-IN" sz="1400"/>
              <a:t>• NAV History</a:t>
            </a:r>
          </a:p>
          <a:p>
            <a:pPr marL="0" indent="0">
              <a:buNone/>
            </a:pPr>
            <a:r>
              <a:rPr lang="en-IN" sz="1400"/>
              <a:t>• AUM by Fund House</a:t>
            </a:r>
          </a:p>
          <a:p>
            <a:pPr marL="0" indent="0">
              <a:buNone/>
            </a:pPr>
            <a:r>
              <a:rPr lang="en-IN" sz="1400"/>
              <a:t>• Monthly SIP Inflows</a:t>
            </a:r>
          </a:p>
          <a:p>
            <a:pPr marL="0" indent="0">
              <a:buNone/>
            </a:pPr>
            <a:r>
              <a:rPr lang="en-IN" sz="1400"/>
              <a:t>• Category Inflows</a:t>
            </a:r>
          </a:p>
          <a:p>
            <a:pPr marL="0" indent="0">
              <a:buNone/>
            </a:pPr>
            <a:r>
              <a:rPr lang="en-IN" sz="1400"/>
              <a:t>• Industry Folio Count</a:t>
            </a:r>
          </a:p>
          <a:p>
            <a:pPr marL="0" indent="0">
              <a:buNone/>
            </a:pPr>
            <a:r>
              <a:rPr lang="en-IN" sz="1400"/>
              <a:t>• Scheme Performance</a:t>
            </a:r>
          </a:p>
          <a:p>
            <a:pPr marL="0" indent="0">
              <a:buNone/>
            </a:pPr>
            <a:r>
              <a:rPr lang="en-IN" sz="1400"/>
              <a:t>• Investor Transactions</a:t>
            </a:r>
          </a:p>
          <a:p>
            <a:pPr marL="0" indent="0">
              <a:buNone/>
            </a:pPr>
            <a:r>
              <a:rPr lang="en-IN" sz="1400"/>
              <a:t>• Portfolio Holdings</a:t>
            </a:r>
          </a:p>
          <a:p>
            <a:pPr marL="0" indent="0">
              <a:buNone/>
            </a:pPr>
            <a:r>
              <a:rPr lang="en-IN" sz="1400"/>
              <a:t>• Benchmark Indices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A9A22-51EE-723E-9C72-F883F9BF5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457" y="1778982"/>
            <a:ext cx="6155141" cy="33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3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DB56-B3B1-524C-8822-0B502814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10ED3-E496-59CE-6712-8AD1FFA88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Raw CSV Files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ETL Pipeline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Data Cleaning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SQLite Database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EDA &amp; Analytics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Power BI Dashboard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722276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6B54F-A1CD-E557-F661-072F719C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 Highlights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EEF1F-701E-772A-5309-E0072524BA0E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Key Insights: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• SIP inflows increased steadily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• Industry AUM continued to grow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• Category inflows varied significantly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• Benchmark trends reflected market movements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388F42-3660-82C9-7988-1C250B201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457" y="1771289"/>
            <a:ext cx="6155141" cy="333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2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8E51-32B8-535B-F8C4-8E3EB6DDA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IN" sz="3600" b="1" u="sng"/>
              <a:t>Performance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1E309-A78B-B1D2-3832-B83E3205F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05" b="1825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501A6-7D94-7777-BB3C-C216983C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300"/>
              <a:t>Metrics Calculated:</a:t>
            </a:r>
          </a:p>
          <a:p>
            <a:pPr marL="0" indent="0">
              <a:buNone/>
            </a:pPr>
            <a:r>
              <a:rPr lang="en-US" sz="1300"/>
              <a:t>• Alpha</a:t>
            </a:r>
          </a:p>
          <a:p>
            <a:pPr marL="0" indent="0">
              <a:buNone/>
            </a:pPr>
            <a:r>
              <a:rPr lang="en-US" sz="1300"/>
              <a:t>• Beta</a:t>
            </a:r>
          </a:p>
          <a:p>
            <a:pPr marL="0" indent="0">
              <a:buNone/>
            </a:pPr>
            <a:r>
              <a:rPr lang="en-US" sz="1300"/>
              <a:t>• Sharpe Ratio</a:t>
            </a:r>
          </a:p>
          <a:p>
            <a:pPr marL="0" indent="0">
              <a:buNone/>
            </a:pPr>
            <a:r>
              <a:rPr lang="en-US" sz="1300"/>
              <a:t>• Sortino Ratio</a:t>
            </a:r>
          </a:p>
          <a:p>
            <a:pPr marL="0" indent="0">
              <a:buNone/>
            </a:pPr>
            <a:r>
              <a:rPr lang="en-US" sz="1300"/>
              <a:t>• Maximum Drawdown</a:t>
            </a:r>
          </a:p>
          <a:p>
            <a:r>
              <a:rPr lang="en-US" sz="1300"/>
              <a:t>Outcome:</a:t>
            </a:r>
          </a:p>
          <a:p>
            <a:r>
              <a:rPr lang="en-US" sz="1300"/>
              <a:t>Created a comprehensive fund scorecard for ranking and comparing mutual fund schemes.</a:t>
            </a:r>
            <a:endParaRPr lang="en-IN" sz="1300"/>
          </a:p>
        </p:txBody>
      </p:sp>
    </p:spTree>
    <p:extLst>
      <p:ext uri="{BB962C8B-B14F-4D97-AF65-F5344CB8AC3E}">
        <p14:creationId xmlns:p14="http://schemas.microsoft.com/office/powerpoint/2010/main" val="3955003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EA5A6-F4AF-331E-97CC-A032353FC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IN" b="1" u="sng"/>
              <a:t>Advanced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A9BBD-BC91-B6B9-FF00-4165D6440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IN" sz="2000"/>
              <a:t>Implemented:</a:t>
            </a:r>
          </a:p>
          <a:p>
            <a:pPr marL="0" indent="0">
              <a:buNone/>
            </a:pPr>
            <a:r>
              <a:rPr lang="en-IN" sz="2000"/>
              <a:t>• Historical VaR (95%)</a:t>
            </a:r>
          </a:p>
          <a:p>
            <a:r>
              <a:rPr lang="en-IN" sz="2000"/>
              <a:t>• Conditional VaR (95%)</a:t>
            </a:r>
          </a:p>
          <a:p>
            <a:r>
              <a:rPr lang="en-IN" sz="2000"/>
              <a:t>• Rolling 90-Day Sharpe Ratio</a:t>
            </a:r>
          </a:p>
          <a:p>
            <a:r>
              <a:rPr lang="en-IN" sz="2000"/>
              <a:t>• SIP Continuity Analysis</a:t>
            </a:r>
          </a:p>
          <a:p>
            <a:r>
              <a:rPr lang="en-IN" sz="2000"/>
              <a:t>• Investor Cohort Analysis</a:t>
            </a:r>
          </a:p>
          <a:p>
            <a:r>
              <a:rPr lang="en-IN" sz="2000"/>
              <a:t>• Fund Recommendation Engine</a:t>
            </a:r>
          </a:p>
          <a:p>
            <a:r>
              <a:rPr lang="en-IN" sz="2000"/>
              <a:t>• HHI Concentration Analysi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DCBEA-CCA1-5D47-7230-3F1F59080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5" r="7621" b="1"/>
          <a:stretch>
            <a:fillRect/>
          </a:stretch>
        </p:blipFill>
        <p:spPr>
          <a:xfrm>
            <a:off x="5445457" y="1258189"/>
            <a:ext cx="6155141" cy="436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4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0A0D2-356A-D984-DD6B-7F666715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3AADAC-0652-B9CB-BC08-841717272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75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EE06D7-379C-1CD3-EDB0-096AFB7DA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48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8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56AC8-C2C2-6634-C989-56D6CD1D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u="sng"/>
              <a:t>Power BI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402D3-6A47-AE6D-FC09-81C50D30D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4" y="2991654"/>
            <a:ext cx="5828261" cy="327839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DC03E2-E5FD-A5CA-7A08-C1F662966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5" y="3057222"/>
            <a:ext cx="5828261" cy="314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4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E9E6-9A14-E312-D76D-1C1A3C38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6F3F1-4E5C-F186-D9BD-49B46E713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• </a:t>
            </a:r>
            <a:r>
              <a:rPr lang="en-US" sz="2400" dirty="0"/>
              <a:t>Moderate-risk funds achieved the best risk-adjusted performance.</a:t>
            </a:r>
          </a:p>
          <a:p>
            <a:pPr marL="0" indent="0">
              <a:buNone/>
            </a:pPr>
            <a:r>
              <a:rPr lang="en-US" sz="2400" dirty="0"/>
              <a:t>• SIP inflows showed strong long-term growth.</a:t>
            </a:r>
          </a:p>
          <a:p>
            <a:pPr marL="0" indent="0">
              <a:buNone/>
            </a:pPr>
            <a:r>
              <a:rPr lang="en-US" sz="2400" dirty="0"/>
              <a:t>• Several investors were identified as at-risk due to irregular SIP contributions.</a:t>
            </a:r>
          </a:p>
          <a:p>
            <a:pPr marL="0" indent="0">
              <a:buNone/>
            </a:pPr>
            <a:r>
              <a:rPr lang="en-US" sz="2400" dirty="0"/>
              <a:t>• Portfolio concentration varies significantly across funds.</a:t>
            </a:r>
          </a:p>
          <a:p>
            <a:pPr marL="0" indent="0">
              <a:buNone/>
            </a:pPr>
            <a:r>
              <a:rPr lang="en-US" sz="2400" dirty="0"/>
              <a:t>• </a:t>
            </a:r>
            <a:r>
              <a:rPr lang="en-US" sz="2400" dirty="0" err="1"/>
              <a:t>VaR</a:t>
            </a:r>
            <a:r>
              <a:rPr lang="en-US" sz="2400" dirty="0"/>
              <a:t> and CVaR identified schemes with higher downside risk.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82237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41CB-5AA4-1E59-843A-F106A409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37D63-00E6-2532-AE4C-1C8B61C8E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Successfully developed an end-to-end Mutual Fund Analytics platform integrating: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ETL Pipeline</a:t>
            </a:r>
          </a:p>
          <a:p>
            <a:pPr marL="0" indent="0">
              <a:buNone/>
            </a:pPr>
            <a:r>
              <a:rPr lang="en-US" sz="2400" dirty="0"/>
              <a:t>• Database Design</a:t>
            </a:r>
          </a:p>
          <a:p>
            <a:pPr marL="0" indent="0">
              <a:buNone/>
            </a:pPr>
            <a:r>
              <a:rPr lang="en-US" sz="2400" dirty="0"/>
              <a:t>• Exploratory Analysis</a:t>
            </a:r>
          </a:p>
          <a:p>
            <a:pPr marL="0" indent="0">
              <a:buNone/>
            </a:pPr>
            <a:r>
              <a:rPr lang="en-US" sz="2400" dirty="0"/>
              <a:t>• Performance Evaluation</a:t>
            </a:r>
          </a:p>
          <a:p>
            <a:pPr marL="0" indent="0">
              <a:buNone/>
            </a:pPr>
            <a:r>
              <a:rPr lang="en-US" sz="2400" dirty="0"/>
              <a:t>• Advanced Risk Analytics</a:t>
            </a:r>
          </a:p>
          <a:p>
            <a:pPr marL="0" indent="0">
              <a:buNone/>
            </a:pPr>
            <a:r>
              <a:rPr lang="en-US" sz="2400" dirty="0"/>
              <a:t>• Interactive Dashboard</a:t>
            </a:r>
          </a:p>
          <a:p>
            <a:endParaRPr lang="en-US" sz="2400" dirty="0"/>
          </a:p>
          <a:p>
            <a:r>
              <a:rPr lang="en-US" sz="2400" dirty="0"/>
              <a:t>Thank You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50093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394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Mutual Fund Analytics Capstone Project</vt:lpstr>
      <vt:lpstr>Problem Statement</vt:lpstr>
      <vt:lpstr>Project Objectives</vt:lpstr>
      <vt:lpstr>Data Sources</vt:lpstr>
      <vt:lpstr>Project Workflow</vt:lpstr>
      <vt:lpstr>EDA Highlights</vt:lpstr>
      <vt:lpstr>Performance Metrics</vt:lpstr>
      <vt:lpstr>Advanced Analytics</vt:lpstr>
      <vt:lpstr>Power BI Dashboard</vt:lpstr>
      <vt:lpstr>Power BI Dashboard</vt:lpstr>
      <vt:lpstr>Key 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Hammad Shaik</dc:creator>
  <cp:lastModifiedBy>Hammad Shaik</cp:lastModifiedBy>
  <cp:revision>1</cp:revision>
  <dcterms:created xsi:type="dcterms:W3CDTF">2026-06-11T12:56:18Z</dcterms:created>
  <dcterms:modified xsi:type="dcterms:W3CDTF">2026-06-11T13:31:50Z</dcterms:modified>
</cp:coreProperties>
</file>